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5654278"/>
            <a:ext cx="20088860" cy="157480"/>
          </a:xfrm>
          <a:custGeom>
            <a:avLst/>
            <a:gdLst/>
            <a:ahLst/>
            <a:cxnLst/>
            <a:rect l="l" t="t" r="r" b="b"/>
            <a:pathLst>
              <a:path w="20088860" h="157479">
                <a:moveTo>
                  <a:pt x="0" y="0"/>
                </a:moveTo>
                <a:lnTo>
                  <a:pt x="20088394" y="0"/>
                </a:lnTo>
                <a:lnTo>
                  <a:pt x="20088394" y="157063"/>
                </a:lnTo>
                <a:lnTo>
                  <a:pt x="0" y="1570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06" y="4162176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48591" y="3824225"/>
            <a:ext cx="10518140" cy="130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54F0D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54F0D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1115149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4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54F0D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266916"/>
            <a:ext cx="20088393" cy="628253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706" y="1115149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54F0D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9860" y="893685"/>
            <a:ext cx="12771640" cy="877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54F0D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115149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4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z="5500" spc="120">
                <a:solidFill>
                  <a:srgbClr val="69E2D4"/>
                </a:solidFill>
              </a:rPr>
              <a:t>National</a:t>
            </a:r>
            <a:r>
              <a:rPr dirty="0" sz="5500" spc="229">
                <a:solidFill>
                  <a:srgbClr val="69E2D4"/>
                </a:solidFill>
              </a:rPr>
              <a:t> </a:t>
            </a:r>
            <a:r>
              <a:rPr dirty="0" sz="5500">
                <a:solidFill>
                  <a:srgbClr val="54EFD3"/>
                </a:solidFill>
              </a:rPr>
              <a:t>Summarg</a:t>
            </a:r>
            <a:r>
              <a:rPr dirty="0" sz="5500" spc="335">
                <a:solidFill>
                  <a:srgbClr val="54EFD3"/>
                </a:solidFill>
              </a:rPr>
              <a:t> </a:t>
            </a:r>
            <a:r>
              <a:rPr dirty="0" sz="5500" spc="240">
                <a:solidFill>
                  <a:srgbClr val="5BEBD3"/>
                </a:solidFill>
              </a:rPr>
              <a:t>Metrics</a:t>
            </a:r>
            <a:endParaRPr sz="5500"/>
          </a:p>
        </p:txBody>
      </p:sp>
      <p:sp>
        <p:nvSpPr>
          <p:cNvPr id="4" name="object 4"/>
          <p:cNvSpPr/>
          <p:nvPr/>
        </p:nvSpPr>
        <p:spPr>
          <a:xfrm>
            <a:off x="15706" y="6156880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26019" y="6076774"/>
            <a:ext cx="317690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Total</a:t>
            </a:r>
            <a:r>
              <a:rPr dirty="0" sz="2450" spc="-114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A5A5A5"/>
                </a:solidFill>
                <a:latin typeface="Arial MT"/>
                <a:cs typeface="Arial MT"/>
              </a:rPr>
              <a:t>Confirmecl</a:t>
            </a:r>
            <a:r>
              <a:rPr dirty="0" sz="2450" spc="3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62728C"/>
                </a:solidFill>
                <a:latin typeface="Arial MT"/>
                <a:cs typeface="Arial MT"/>
              </a:rPr>
              <a:t>Cases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5027" y="6076774"/>
            <a:ext cx="220980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55">
                <a:solidFill>
                  <a:srgbClr val="A1A1A1"/>
                </a:solidFill>
                <a:latin typeface="Lucida Sans Unicode"/>
                <a:cs typeface="Lucida Sans Unicode"/>
              </a:rPr>
              <a:t>Totaİ</a:t>
            </a:r>
            <a:r>
              <a:rPr dirty="0" sz="2450" spc="-75">
                <a:solidFill>
                  <a:srgbClr val="A1A1A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5">
                <a:solidFill>
                  <a:srgbClr val="2F3F54"/>
                </a:solidFill>
                <a:latin typeface="Lucida Sans Unicode"/>
                <a:cs typeface="Lucida Sans Unicode"/>
              </a:rPr>
              <a:t>Recovered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00328" y="6076774"/>
            <a:ext cx="175577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55">
                <a:solidFill>
                  <a:srgbClr val="A3A3A3"/>
                </a:solidFill>
                <a:latin typeface="Lucida Sans Unicode"/>
                <a:cs typeface="Lucida Sans Unicode"/>
              </a:rPr>
              <a:t>Total</a:t>
            </a:r>
            <a:r>
              <a:rPr dirty="0" sz="2450" spc="-75">
                <a:solidFill>
                  <a:srgbClr val="A3A3A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95">
                <a:solidFill>
                  <a:srgbClr val="A3A3A3"/>
                </a:solidFill>
                <a:latin typeface="Lucida Sans Unicode"/>
                <a:cs typeface="Lucida Sans Unicode"/>
              </a:rPr>
              <a:t>Deaths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7868870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93920" y="7788764"/>
            <a:ext cx="1568640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National</a:t>
            </a:r>
            <a:r>
              <a:rPr dirty="0" sz="2450" spc="2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B1B1B1"/>
                </a:solidFill>
                <a:latin typeface="Arial MT"/>
                <a:cs typeface="Arial MT"/>
              </a:rPr>
              <a:t>Discharge</a:t>
            </a:r>
            <a:r>
              <a:rPr dirty="0" sz="2450" spc="4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B1B1B1"/>
                </a:solidFill>
                <a:latin typeface="Arial MT"/>
                <a:cs typeface="Arial MT"/>
              </a:rPr>
              <a:t>Ratio</a:t>
            </a:r>
            <a:r>
              <a:rPr dirty="0" sz="2450" spc="-3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remains</a:t>
            </a:r>
            <a:r>
              <a:rPr dirty="0" sz="2450" spc="114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strong</a:t>
            </a:r>
            <a:r>
              <a:rPr dirty="0" sz="2450" spc="3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898597"/>
                </a:solidFill>
                <a:latin typeface="Arial MT"/>
                <a:cs typeface="Arial MT"/>
              </a:rPr>
              <a:t>at</a:t>
            </a:r>
            <a:r>
              <a:rPr dirty="0" sz="2450" spc="-45">
                <a:solidFill>
                  <a:srgbClr val="898597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98.2°/,</a:t>
            </a:r>
            <a:r>
              <a:rPr dirty="0" sz="24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indica!ing</a:t>
            </a:r>
            <a:r>
              <a:rPr dirty="0" sz="2450" spc="7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3B3B3"/>
                </a:solidFill>
                <a:latin typeface="Arial MT"/>
                <a:cs typeface="Arial MT"/>
              </a:rPr>
              <a:t>effective</a:t>
            </a:r>
            <a:r>
              <a:rPr dirty="0" sz="2450" spc="-2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677483"/>
                </a:solidFill>
                <a:latin typeface="Arial MT"/>
                <a:cs typeface="Arial MT"/>
              </a:rPr>
              <a:t>recovery</a:t>
            </a:r>
            <a:r>
              <a:rPr dirty="0" sz="2450" spc="140">
                <a:solidFill>
                  <a:srgbClr val="677483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B3B3B3"/>
                </a:solidFill>
                <a:latin typeface="Arial MT"/>
                <a:cs typeface="Arial MT"/>
              </a:rPr>
              <a:t>Drotocols</a:t>
            </a:r>
            <a:r>
              <a:rPr dirty="0" sz="2450" spc="8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FAFAF"/>
                </a:solidFill>
                <a:latin typeface="Arial MT"/>
                <a:cs typeface="Arial MT"/>
              </a:rPr>
              <a:t>despi!e</a:t>
            </a:r>
            <a:r>
              <a:rPr dirty="0" sz="2450" spc="1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5A5A5"/>
                </a:solidFill>
                <a:latin typeface="Arial MT"/>
                <a:cs typeface="Arial MT"/>
              </a:rPr>
              <a:t>the</a:t>
            </a:r>
            <a:r>
              <a:rPr dirty="0" sz="2450" spc="-8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8A8A8"/>
                </a:solidFill>
                <a:latin typeface="Arial MT"/>
                <a:cs typeface="Arial MT"/>
              </a:rPr>
              <a:t>high</a:t>
            </a:r>
            <a:r>
              <a:rPr dirty="0" sz="2450" spc="-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FAFAF"/>
                </a:solidFill>
                <a:latin typeface="Arial MT"/>
                <a:cs typeface="Arial MT"/>
              </a:rPr>
              <a:t>volume.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350" spc="-55">
                <a:solidFill>
                  <a:srgbClr val="FFFFFF"/>
                </a:solidFill>
              </a:rPr>
              <a:t>Zone-</a:t>
            </a:r>
            <a:r>
              <a:rPr dirty="0" sz="8350">
                <a:solidFill>
                  <a:srgbClr val="FFFFFF"/>
                </a:solidFill>
              </a:rPr>
              <a:t>wise</a:t>
            </a:r>
            <a:r>
              <a:rPr dirty="0" sz="8350" spc="25">
                <a:solidFill>
                  <a:srgbClr val="FFFFFF"/>
                </a:solidFill>
              </a:rPr>
              <a:t> </a:t>
            </a:r>
            <a:r>
              <a:rPr dirty="0" sz="8350" spc="-10">
                <a:solidFill>
                  <a:srgbClr val="FFFFFF"/>
                </a:solidFill>
              </a:rPr>
              <a:t>Breakdown</a:t>
            </a:r>
            <a:endParaRPr sz="8350"/>
          </a:p>
        </p:txBody>
      </p:sp>
      <p:sp>
        <p:nvSpPr>
          <p:cNvPr id="3" name="object 3"/>
          <p:cNvSpPr/>
          <p:nvPr/>
        </p:nvSpPr>
        <p:spPr>
          <a:xfrm>
            <a:off x="15706" y="6690895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22018" y="6610789"/>
            <a:ext cx="941768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10">
                <a:solidFill>
                  <a:srgbClr val="ACACAC"/>
                </a:solidFill>
                <a:latin typeface="Lucida Sans Unicode"/>
                <a:cs typeface="Lucida Sans Unicode"/>
              </a:rPr>
              <a:t>Evaluating</a:t>
            </a:r>
            <a:r>
              <a:rPr dirty="0" sz="2450" spc="-85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45">
                <a:solidFill>
                  <a:srgbClr val="AAAAAA"/>
                </a:solidFill>
                <a:latin typeface="Lucida Sans Unicode"/>
                <a:cs typeface="Lucida Sans Unicode"/>
              </a:rPr>
              <a:t>regional</a:t>
            </a:r>
            <a:r>
              <a:rPr dirty="0" sz="2450" spc="-45">
                <a:solidFill>
                  <a:srgbClr val="AAAAA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0">
                <a:solidFill>
                  <a:srgbClr val="AEAEAE"/>
                </a:solidFill>
                <a:latin typeface="Lucida Sans Unicode"/>
                <a:cs typeface="Lucida Sans Unicode"/>
              </a:rPr>
              <a:t>impact</a:t>
            </a:r>
            <a:r>
              <a:rPr dirty="0" sz="2450" spc="-70">
                <a:solidFill>
                  <a:srgbClr val="AEAEA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0">
                <a:solidFill>
                  <a:srgbClr val="ACACAC"/>
                </a:solidFill>
                <a:latin typeface="Lucida Sans Unicode"/>
                <a:cs typeface="Lucida Sans Unicode"/>
              </a:rPr>
              <a:t>across</a:t>
            </a:r>
            <a:r>
              <a:rPr dirty="0" sz="2450" spc="5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65">
                <a:solidFill>
                  <a:srgbClr val="A8A8A8"/>
                </a:solidFill>
                <a:latin typeface="Lucida Sans Unicode"/>
                <a:cs typeface="Lucida Sans Unicode"/>
              </a:rPr>
              <a:t>South,</a:t>
            </a:r>
            <a:r>
              <a:rPr dirty="0" sz="2450" spc="-30">
                <a:solidFill>
                  <a:srgbClr val="A8A8A8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65">
                <a:solidFill>
                  <a:srgbClr val="A8A8A8"/>
                </a:solidFill>
                <a:latin typeface="Lucida Sans Unicode"/>
                <a:cs typeface="Lucida Sans Unicode"/>
              </a:rPr>
              <a:t>West,</a:t>
            </a:r>
            <a:r>
              <a:rPr dirty="0" sz="2450" spc="-135">
                <a:solidFill>
                  <a:srgbClr val="A8A8A8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0">
                <a:solidFill>
                  <a:srgbClr val="BFBFBF"/>
                </a:solidFill>
                <a:latin typeface="Lucida Sans Unicode"/>
                <a:cs typeface="Lucida Sans Unicode"/>
              </a:rPr>
              <a:t>North,</a:t>
            </a:r>
            <a:r>
              <a:rPr dirty="0" sz="2450" spc="-25">
                <a:solidFill>
                  <a:srgbClr val="BFBFB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0">
                <a:solidFill>
                  <a:srgbClr val="A3A3A3"/>
                </a:solidFill>
                <a:latin typeface="Lucida Sans Unicode"/>
                <a:cs typeface="Lucida Sans Unicode"/>
              </a:rPr>
              <a:t>and</a:t>
            </a:r>
            <a:r>
              <a:rPr dirty="0" sz="2450" spc="-150">
                <a:solidFill>
                  <a:srgbClr val="A3A3A3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A3A3A3"/>
                </a:solidFill>
                <a:latin typeface="Lucida Sans Unicode"/>
                <a:cs typeface="Lucida Sans Unicode"/>
              </a:rPr>
              <a:t>East</a:t>
            </a:r>
            <a:r>
              <a:rPr dirty="0" sz="2450" spc="-120">
                <a:solidFill>
                  <a:srgbClr val="A3A3A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AAAAAA"/>
                </a:solidFill>
                <a:latin typeface="Lucida Sans Unicode"/>
                <a:cs typeface="Lucida Sans Unicode"/>
              </a:rPr>
              <a:t>India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4429184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89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06" y="5230207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6015523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6785133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90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46685" y="4351041"/>
            <a:ext cx="1352550" cy="2692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80">
                <a:solidFill>
                  <a:srgbClr val="FFFFFF"/>
                </a:solidFill>
                <a:latin typeface="Lucida Sans Unicode"/>
                <a:cs typeface="Lucida Sans Unicode"/>
              </a:rPr>
              <a:t>South</a:t>
            </a:r>
            <a:r>
              <a:rPr dirty="0" sz="205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FFFFFF"/>
                </a:solidFill>
                <a:latin typeface="Lucida Sans Unicode"/>
                <a:cs typeface="Lucida Sans Unicode"/>
              </a:rPr>
              <a:t>Zone</a:t>
            </a:r>
            <a:endParaRPr sz="2050">
              <a:latin typeface="Lucida Sans Unicode"/>
              <a:cs typeface="Lucida Sans Unicode"/>
            </a:endParaRPr>
          </a:p>
          <a:p>
            <a:pPr algn="just" marL="45720" marR="5080" indent="88900">
              <a:lnSpc>
                <a:spcPts val="6180"/>
              </a:lnSpc>
              <a:spcBef>
                <a:spcPts val="630"/>
              </a:spcBef>
            </a:pPr>
            <a:r>
              <a:rPr dirty="0" sz="2050" spc="-150">
                <a:solidFill>
                  <a:srgbClr val="FFFFFF"/>
                </a:solidFill>
                <a:latin typeface="Lucida Sans Unicode"/>
                <a:cs typeface="Lucida Sans Unicode"/>
              </a:rPr>
              <a:t>West</a:t>
            </a:r>
            <a:r>
              <a:rPr dirty="0" sz="20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65">
                <a:solidFill>
                  <a:srgbClr val="FFFFFF"/>
                </a:solidFill>
                <a:latin typeface="Lucida Sans Unicode"/>
                <a:cs typeface="Lucida Sans Unicode"/>
              </a:rPr>
              <a:t>Zone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East</a:t>
            </a:r>
            <a:r>
              <a:rPr dirty="0" sz="1900" spc="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Zone </a:t>
            </a:r>
            <a:r>
              <a:rPr dirty="0" sz="1900" spc="70">
                <a:solidFill>
                  <a:srgbClr val="FFFFFF"/>
                </a:solidFill>
                <a:latin typeface="Arial MT"/>
                <a:cs typeface="Arial MT"/>
              </a:rPr>
              <a:t>North</a:t>
            </a:r>
            <a:r>
              <a:rPr dirty="0" sz="190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Zone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5EE6D4"/>
                </a:solidFill>
              </a:rPr>
              <a:t>Case</a:t>
            </a:r>
            <a:r>
              <a:rPr dirty="0" spc="-150">
                <a:solidFill>
                  <a:srgbClr val="5EE6D4"/>
                </a:solidFill>
              </a:rPr>
              <a:t> </a:t>
            </a:r>
            <a:r>
              <a:rPr dirty="0" spc="55">
                <a:solidFill>
                  <a:srgbClr val="60E9D6"/>
                </a:solidFill>
              </a:rPr>
              <a:t>Volume</a:t>
            </a:r>
            <a:r>
              <a:rPr dirty="0" spc="-5">
                <a:solidFill>
                  <a:srgbClr val="60E9D6"/>
                </a:solidFill>
              </a:rPr>
              <a:t> </a:t>
            </a:r>
            <a:r>
              <a:rPr dirty="0" spc="70">
                <a:solidFill>
                  <a:srgbClr val="4FEFD3"/>
                </a:solidFill>
              </a:rPr>
              <a:t>Leaders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156972"/>
            <a:ext cx="20088393" cy="52145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1115149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4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5500">
                <a:solidFill>
                  <a:srgbClr val="60E8D8"/>
                </a:solidFill>
              </a:rPr>
              <a:t>Recoverg</a:t>
            </a:r>
            <a:r>
              <a:rPr dirty="0" sz="5500" spc="550">
                <a:solidFill>
                  <a:srgbClr val="60E8D8"/>
                </a:solidFill>
              </a:rPr>
              <a:t> </a:t>
            </a:r>
            <a:r>
              <a:rPr dirty="0" sz="5500" spc="50">
                <a:solidFill>
                  <a:srgbClr val="4FEFD3"/>
                </a:solidFill>
              </a:rPr>
              <a:t>Champions</a:t>
            </a:r>
            <a:endParaRPr sz="5500"/>
          </a:p>
        </p:txBody>
      </p:sp>
      <p:sp>
        <p:nvSpPr>
          <p:cNvPr id="5" name="object 5"/>
          <p:cNvSpPr/>
          <p:nvPr/>
        </p:nvSpPr>
        <p:spPr>
          <a:xfrm>
            <a:off x="11834717" y="6887224"/>
            <a:ext cx="2693670" cy="243840"/>
          </a:xfrm>
          <a:custGeom>
            <a:avLst/>
            <a:gdLst/>
            <a:ahLst/>
            <a:cxnLst/>
            <a:rect l="l" t="t" r="r" b="b"/>
            <a:pathLst>
              <a:path w="2693669" h="243840">
                <a:moveTo>
                  <a:pt x="2693635" y="243448"/>
                </a:moveTo>
                <a:lnTo>
                  <a:pt x="0" y="243448"/>
                </a:lnTo>
                <a:lnTo>
                  <a:pt x="0" y="0"/>
                </a:lnTo>
                <a:lnTo>
                  <a:pt x="2693635" y="0"/>
                </a:lnTo>
                <a:lnTo>
                  <a:pt x="2693635" y="243448"/>
                </a:lnTo>
                <a:close/>
              </a:path>
            </a:pathLst>
          </a:custGeom>
          <a:solidFill>
            <a:srgbClr val="0005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830326" y="6799265"/>
            <a:ext cx="268986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Andhra</a:t>
            </a:r>
            <a:r>
              <a:rPr dirty="0" sz="24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FFFFFF"/>
                </a:solidFill>
                <a:latin typeface="Arial MT"/>
                <a:cs typeface="Arial MT"/>
              </a:rPr>
              <a:t>Pradesh:99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9093964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65288" y="9013857"/>
            <a:ext cx="1514792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30">
                <a:solidFill>
                  <a:srgbClr val="313B54"/>
                </a:solidFill>
                <a:latin typeface="Lucida Sans Unicode"/>
                <a:cs typeface="Lucida Sans Unicode"/>
              </a:rPr>
              <a:t>UTs</a:t>
            </a:r>
            <a:r>
              <a:rPr dirty="0" sz="2450" spc="-110">
                <a:solidFill>
                  <a:srgbClr val="313B54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0">
                <a:solidFill>
                  <a:srgbClr val="AEAEAE"/>
                </a:solidFill>
                <a:latin typeface="Lucida Sans Unicode"/>
                <a:cs typeface="Lucida Sans Unicode"/>
              </a:rPr>
              <a:t>and</a:t>
            </a:r>
            <a:r>
              <a:rPr dirty="0" sz="2450" spc="-170">
                <a:solidFill>
                  <a:srgbClr val="AEAEA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25">
                <a:solidFill>
                  <a:srgbClr val="ACACAC"/>
                </a:solidFill>
                <a:latin typeface="Lucida Sans Unicode"/>
                <a:cs typeface="Lucida Sans Unicode"/>
              </a:rPr>
              <a:t>smaller</a:t>
            </a:r>
            <a:r>
              <a:rPr dirty="0" sz="2450" spc="-70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5">
                <a:solidFill>
                  <a:srgbClr val="ACACAC"/>
                </a:solidFill>
                <a:latin typeface="Lucida Sans Unicode"/>
                <a:cs typeface="Lucida Sans Unicode"/>
              </a:rPr>
              <a:t>states</a:t>
            </a:r>
            <a:r>
              <a:rPr dirty="0" sz="2450" spc="-160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35">
                <a:solidFill>
                  <a:srgbClr val="B3B3B3"/>
                </a:solidFill>
                <a:latin typeface="Lucida Sans Unicode"/>
                <a:cs typeface="Lucida Sans Unicode"/>
              </a:rPr>
              <a:t>consistently</a:t>
            </a:r>
            <a:r>
              <a:rPr dirty="0" sz="2450" spc="35">
                <a:solidFill>
                  <a:srgbClr val="B3B3B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5">
                <a:solidFill>
                  <a:srgbClr val="BABABA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2450" spc="-114">
                <a:solidFill>
                  <a:srgbClr val="BABAB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60">
                <a:solidFill>
                  <a:srgbClr val="AAAAAA"/>
                </a:solidFill>
                <a:latin typeface="Lucida Sans Unicode"/>
                <a:cs typeface="Lucida Sans Unicode"/>
              </a:rPr>
              <a:t>higher</a:t>
            </a:r>
            <a:r>
              <a:rPr dirty="0" sz="2450" spc="-30">
                <a:solidFill>
                  <a:srgbClr val="AAAAA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30">
                <a:solidFill>
                  <a:srgbClr val="B3B3B3"/>
                </a:solidFill>
                <a:latin typeface="Lucida Sans Unicode"/>
                <a:cs typeface="Lucida Sans Unicode"/>
              </a:rPr>
              <a:t>recovery</a:t>
            </a:r>
            <a:r>
              <a:rPr dirty="0" sz="2450" spc="20">
                <a:solidFill>
                  <a:srgbClr val="B3B3B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25">
                <a:solidFill>
                  <a:srgbClr val="B3B3B3"/>
                </a:solidFill>
                <a:latin typeface="Lucida Sans Unicode"/>
                <a:cs typeface="Lucida Sans Unicode"/>
              </a:rPr>
              <a:t>ratios</a:t>
            </a:r>
            <a:r>
              <a:rPr dirty="0" sz="2450" spc="-65">
                <a:solidFill>
                  <a:srgbClr val="B3B3B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5">
                <a:solidFill>
                  <a:srgbClr val="C1C1C1"/>
                </a:solidFill>
                <a:latin typeface="Lucida Sans Unicode"/>
                <a:cs typeface="Lucida Sans Unicode"/>
              </a:rPr>
              <a:t>comDared</a:t>
            </a:r>
            <a:r>
              <a:rPr dirty="0" sz="2450" spc="55">
                <a:solidFill>
                  <a:srgbClr val="C1C1C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20">
                <a:solidFill>
                  <a:srgbClr val="ACACAC"/>
                </a:solidFill>
                <a:latin typeface="Lucida Sans Unicode"/>
                <a:cs typeface="Lucida Sans Unicode"/>
              </a:rPr>
              <a:t>to</a:t>
            </a:r>
            <a:r>
              <a:rPr dirty="0" sz="2450" spc="-225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30">
                <a:solidFill>
                  <a:srgbClr val="B8B8B8"/>
                </a:solidFill>
                <a:latin typeface="Lucida Sans Unicode"/>
                <a:cs typeface="Lucida Sans Unicode"/>
              </a:rPr>
              <a:t>major</a:t>
            </a:r>
            <a:r>
              <a:rPr dirty="0" sz="2450" spc="-60">
                <a:solidFill>
                  <a:srgbClr val="B8B8B8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90">
                <a:solidFill>
                  <a:srgbClr val="AEAEAE"/>
                </a:solidFill>
                <a:latin typeface="Lucida Sans Unicode"/>
                <a:cs typeface="Lucida Sans Unicode"/>
              </a:rPr>
              <a:t>DoDulated</a:t>
            </a:r>
            <a:r>
              <a:rPr dirty="0" sz="2450" spc="-5">
                <a:solidFill>
                  <a:srgbClr val="AEAEA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B1B1B1"/>
                </a:solidFill>
                <a:latin typeface="Lucida Sans Unicode"/>
                <a:cs typeface="Lucida Sans Unicode"/>
              </a:rPr>
              <a:t>states.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40"/>
              </a:spcBef>
            </a:pPr>
            <a:r>
              <a:rPr dirty="0" sz="5500" spc="345">
                <a:solidFill>
                  <a:srgbClr val="60EBD6"/>
                </a:solidFill>
              </a:rPr>
              <a:t>Mortalitg</a:t>
            </a:r>
            <a:r>
              <a:rPr dirty="0" sz="5500" spc="-50">
                <a:solidFill>
                  <a:srgbClr val="60EBD6"/>
                </a:solidFill>
              </a:rPr>
              <a:t> </a:t>
            </a:r>
            <a:r>
              <a:rPr dirty="0" sz="5500" spc="-10">
                <a:solidFill>
                  <a:srgbClr val="56EBD3"/>
                </a:solidFill>
              </a:rPr>
              <a:t>Trends</a:t>
            </a:r>
            <a:endParaRPr sz="5500"/>
          </a:p>
        </p:txBody>
      </p:sp>
      <p:sp>
        <p:nvSpPr>
          <p:cNvPr id="3" name="object 3"/>
          <p:cNvSpPr/>
          <p:nvPr/>
        </p:nvSpPr>
        <p:spPr>
          <a:xfrm>
            <a:off x="15706" y="4130764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4853255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5355857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20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706" y="6156880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030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7052141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492807" y="4035606"/>
            <a:ext cx="6663690" cy="3746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14"/>
              </a:spcBef>
            </a:pPr>
            <a:r>
              <a:rPr dirty="0" sz="2300" spc="90">
                <a:solidFill>
                  <a:srgbClr val="72DDBF"/>
                </a:solidFill>
                <a:latin typeface="Arial MT"/>
                <a:cs typeface="Arial MT"/>
              </a:rPr>
              <a:t>Lowest</a:t>
            </a:r>
            <a:r>
              <a:rPr dirty="0" sz="2300" spc="225">
                <a:solidFill>
                  <a:srgbClr val="72DDBF"/>
                </a:solidFill>
                <a:latin typeface="Arial MT"/>
                <a:cs typeface="Arial MT"/>
              </a:rPr>
              <a:t> </a:t>
            </a:r>
            <a:r>
              <a:rPr dirty="0" sz="2300" spc="80">
                <a:solidFill>
                  <a:srgbClr val="75DDC3"/>
                </a:solidFill>
                <a:latin typeface="Arial MT"/>
                <a:cs typeface="Arial MT"/>
              </a:rPr>
              <a:t>Death</a:t>
            </a:r>
            <a:r>
              <a:rPr dirty="0" sz="2300" spc="170">
                <a:solidFill>
                  <a:srgbClr val="75DDC3"/>
                </a:solidFill>
                <a:latin typeface="Arial MT"/>
                <a:cs typeface="Arial MT"/>
              </a:rPr>
              <a:t> </a:t>
            </a:r>
            <a:r>
              <a:rPr dirty="0" sz="2300" spc="40">
                <a:solidFill>
                  <a:srgbClr val="0F5D5B"/>
                </a:solidFill>
                <a:latin typeface="Arial MT"/>
                <a:cs typeface="Arial MT"/>
              </a:rPr>
              <a:t>Ratios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300">
              <a:latin typeface="Arial MT"/>
              <a:cs typeface="Arial MT"/>
            </a:endParaRPr>
          </a:p>
          <a:p>
            <a:pPr marL="29209">
              <a:lnSpc>
                <a:spcPct val="100000"/>
              </a:lnSpc>
            </a:pPr>
            <a:r>
              <a:rPr dirty="0" sz="2450" spc="-20">
                <a:solidFill>
                  <a:srgbClr val="B1B1B1"/>
                </a:solidFill>
                <a:latin typeface="Arial MT"/>
                <a:cs typeface="Arial MT"/>
              </a:rPr>
              <a:t>Exceptional</a:t>
            </a:r>
            <a:r>
              <a:rPr dirty="0" sz="2450" spc="8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FAFAF"/>
                </a:solidFill>
                <a:latin typeface="Arial MT"/>
                <a:cs typeface="Arial MT"/>
              </a:rPr>
              <a:t>managemen*</a:t>
            </a:r>
            <a:r>
              <a:rPr dirty="0" sz="2450" spc="19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in</a:t>
            </a:r>
            <a:r>
              <a:rPr dirty="0" sz="2450" spc="-10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FAFAF"/>
                </a:solidFill>
                <a:latin typeface="Arial MT"/>
                <a:cs typeface="Arial MT"/>
              </a:rPr>
              <a:t>minimizing</a:t>
            </a:r>
            <a:r>
              <a:rPr dirty="0" sz="2450" spc="16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B8B8B8"/>
                </a:solidFill>
                <a:latin typeface="Arial MT"/>
                <a:cs typeface="Arial MT"/>
              </a:rPr>
              <a:t>fa*aIi!y.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450">
              <a:latin typeface="Arial MT"/>
              <a:cs typeface="Arial MT"/>
            </a:endParaRPr>
          </a:p>
          <a:p>
            <a:pPr marL="728345">
              <a:lnSpc>
                <a:spcPct val="100000"/>
              </a:lnSpc>
            </a:pP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Damon</a:t>
            </a:r>
            <a:r>
              <a:rPr dirty="0" sz="24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4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Diu:</a:t>
            </a:r>
            <a:r>
              <a:rPr dirty="0" sz="24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AAAAAA"/>
                </a:solidFill>
                <a:latin typeface="Arial MT"/>
                <a:cs typeface="Arial MT"/>
              </a:rPr>
              <a:t>0</a:t>
            </a:r>
            <a:r>
              <a:rPr dirty="0" sz="2450" spc="-13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AAAAAA"/>
                </a:solidFill>
                <a:latin typeface="Arial MT"/>
                <a:cs typeface="Arial MT"/>
              </a:rPr>
              <a:t>04%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450">
              <a:latin typeface="Arial MT"/>
              <a:cs typeface="Arial MT"/>
            </a:endParaRPr>
          </a:p>
          <a:p>
            <a:pPr marL="735965">
              <a:lnSpc>
                <a:spcPct val="100000"/>
              </a:lnSpc>
            </a:pP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Mizorom:</a:t>
            </a:r>
            <a:r>
              <a:rPr dirty="0" sz="2550" spc="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EAEAE"/>
                </a:solidFill>
                <a:latin typeface="Arial MT"/>
                <a:cs typeface="Arial MT"/>
              </a:rPr>
              <a:t>0</a:t>
            </a:r>
            <a:r>
              <a:rPr dirty="0" sz="2550" spc="-14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550" spc="-370">
                <a:solidFill>
                  <a:srgbClr val="AEAEAE"/>
                </a:solidFill>
                <a:latin typeface="Arial MT"/>
                <a:cs typeface="Arial MT"/>
              </a:rPr>
              <a:t>3ó%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28345" algn="l"/>
              </a:tabLst>
            </a:pPr>
            <a:r>
              <a:rPr dirty="0" sz="2550" spc="-805">
                <a:solidFill>
                  <a:srgbClr val="5EEBD1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5EEBD1"/>
                </a:solidFill>
                <a:latin typeface="Arial MT"/>
                <a:cs typeface="Arial MT"/>
              </a:rPr>
              <a:t>	</a:t>
            </a:r>
            <a:r>
              <a:rPr dirty="0" sz="2550" spc="-25">
                <a:solidFill>
                  <a:srgbClr val="FFFFFF"/>
                </a:solidFill>
                <a:latin typeface="Arial MT"/>
                <a:cs typeface="Arial MT"/>
              </a:rPr>
              <a:t>Lokshodweep:</a:t>
            </a:r>
            <a:r>
              <a:rPr dirty="0" sz="25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B6B6B6"/>
                </a:solidFill>
                <a:latin typeface="Arial MT"/>
                <a:cs typeface="Arial MT"/>
              </a:rPr>
              <a:t>0</a:t>
            </a:r>
            <a:r>
              <a:rPr dirty="0" sz="2550" spc="-18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2550" spc="-370">
                <a:solidFill>
                  <a:srgbClr val="B6B6B6"/>
                </a:solidFill>
                <a:latin typeface="Arial MT"/>
                <a:cs typeface="Arial MT"/>
              </a:rPr>
              <a:t>49%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7947401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20683" y="4019245"/>
            <a:ext cx="7172325" cy="4262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ED8291"/>
                </a:solidFill>
                <a:latin typeface="Arial MT"/>
                <a:cs typeface="Arial MT"/>
              </a:rPr>
              <a:t>Highest</a:t>
            </a:r>
            <a:r>
              <a:rPr dirty="0" sz="2450" spc="270">
                <a:solidFill>
                  <a:srgbClr val="ED829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D5469"/>
                </a:solidFill>
                <a:latin typeface="Arial MT"/>
                <a:cs typeface="Arial MT"/>
              </a:rPr>
              <a:t>Beath</a:t>
            </a:r>
            <a:r>
              <a:rPr dirty="0" sz="2450" spc="185">
                <a:solidFill>
                  <a:srgbClr val="BD5469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772D3B"/>
                </a:solidFill>
                <a:latin typeface="Arial MT"/>
                <a:cs typeface="Arial MT"/>
              </a:rPr>
              <a:t>Ratios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50">
              <a:latin typeface="Arial MT"/>
              <a:cs typeface="Arial MT"/>
            </a:endParaRPr>
          </a:p>
          <a:p>
            <a:pPr marL="30480">
              <a:lnSpc>
                <a:spcPct val="100000"/>
              </a:lnSpc>
            </a:pPr>
            <a:r>
              <a:rPr dirty="0" sz="2550" spc="-80">
                <a:solidFill>
                  <a:srgbClr val="B1B1B1"/>
                </a:solidFill>
                <a:latin typeface="Arial MT"/>
                <a:cs typeface="Arial MT"/>
              </a:rPr>
              <a:t>Scales</a:t>
            </a:r>
            <a:r>
              <a:rPr dirty="0" sz="2550" spc="-1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AAAAA"/>
                </a:solidFill>
                <a:latin typeface="Arial MT"/>
                <a:cs typeface="Arial MT"/>
              </a:rPr>
              <a:t>with</a:t>
            </a:r>
            <a:r>
              <a:rPr dirty="0" sz="2550" spc="-1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CACAC"/>
                </a:solidFill>
                <a:latin typeface="Arial MT"/>
                <a:cs typeface="Arial MT"/>
              </a:rPr>
              <a:t>the</a:t>
            </a:r>
            <a:r>
              <a:rPr dirty="0" sz="2550" spc="-18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AFAFAF"/>
                </a:solidFill>
                <a:latin typeface="Arial MT"/>
                <a:cs typeface="Arial MT"/>
              </a:rPr>
              <a:t>highest</a:t>
            </a:r>
            <a:r>
              <a:rPr dirty="0" sz="2550" spc="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CACAC"/>
                </a:solidFill>
                <a:latin typeface="Arial MT"/>
                <a:cs typeface="Arial MT"/>
              </a:rPr>
              <a:t>percentage</a:t>
            </a:r>
            <a:r>
              <a:rPr dirty="0" sz="2550" spc="-5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97A5BF"/>
                </a:solidFill>
                <a:latin typeface="Arial MT"/>
                <a:cs typeface="Arial MT"/>
              </a:rPr>
              <a:t>of</a:t>
            </a:r>
            <a:r>
              <a:rPr dirty="0" sz="2550" spc="-35">
                <a:solidFill>
                  <a:srgbClr val="97A5BF"/>
                </a:solidFill>
                <a:latin typeface="Arial MT"/>
                <a:cs typeface="Arial MT"/>
              </a:rPr>
              <a:t> </a:t>
            </a:r>
            <a:r>
              <a:rPr dirty="0" sz="2550" spc="-60">
                <a:solidFill>
                  <a:srgbClr val="A7A7A7"/>
                </a:solidFill>
                <a:latin typeface="Arial MT"/>
                <a:cs typeface="Arial MT"/>
              </a:rPr>
              <a:t>mor*aIi*y</a:t>
            </a:r>
            <a:r>
              <a:rPr dirty="0" sz="2550" spc="5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ACACAC"/>
                </a:solidFill>
                <a:latin typeface="Arial MT"/>
                <a:cs typeface="Arial MT"/>
              </a:rPr>
              <a:t>per</a:t>
            </a:r>
            <a:endParaRPr sz="25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900"/>
              </a:spcBef>
            </a:pPr>
            <a:r>
              <a:rPr dirty="0" sz="2550" spc="-170">
                <a:solidFill>
                  <a:srgbClr val="A5A5A5"/>
                </a:solidFill>
                <a:latin typeface="Lucida Sans Unicode"/>
                <a:cs typeface="Lucida Sans Unicode"/>
              </a:rPr>
              <a:t>confirmed</a:t>
            </a:r>
            <a:r>
              <a:rPr dirty="0" sz="2550" spc="-15">
                <a:solidFill>
                  <a:srgbClr val="A5A5A5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B6B6B6"/>
                </a:solidFill>
                <a:latin typeface="Lucida Sans Unicode"/>
                <a:cs typeface="Lucida Sans Unicode"/>
              </a:rPr>
              <a:t>case.</a:t>
            </a:r>
            <a:endParaRPr sz="25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70"/>
              </a:spcBef>
              <a:tabLst>
                <a:tab pos="720090" algn="l"/>
              </a:tabLst>
            </a:pPr>
            <a:r>
              <a:rPr dirty="0" sz="2450" spc="-350">
                <a:solidFill>
                  <a:srgbClr val="FF7787"/>
                </a:solidFill>
                <a:latin typeface="Arial MT"/>
                <a:cs typeface="Arial MT"/>
              </a:rPr>
              <a:t>@</a:t>
            </a:r>
            <a:r>
              <a:rPr dirty="0" sz="2450">
                <a:solidFill>
                  <a:srgbClr val="FF7787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Punjab:</a:t>
            </a:r>
            <a:r>
              <a:rPr dirty="0" sz="24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70">
                <a:solidFill>
                  <a:srgbClr val="AFAFAF"/>
                </a:solidFill>
                <a:latin typeface="Arial MT"/>
                <a:cs typeface="Arial MT"/>
              </a:rPr>
              <a:t>2</a:t>
            </a:r>
            <a:r>
              <a:rPr dirty="0" sz="2450" spc="-14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AFAFAF"/>
                </a:solidFill>
                <a:latin typeface="Arial MT"/>
                <a:cs typeface="Arial MT"/>
              </a:rPr>
              <a:t>75%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450">
              <a:latin typeface="Arial MT"/>
              <a:cs typeface="Arial MT"/>
            </a:endParaRPr>
          </a:p>
          <a:p>
            <a:pPr marL="720090">
              <a:lnSpc>
                <a:spcPct val="100000"/>
              </a:lnSpc>
            </a:pP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Nagolond:</a:t>
            </a:r>
            <a:r>
              <a:rPr dirty="0" sz="2450" spc="3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254">
                <a:solidFill>
                  <a:srgbClr val="939AAF"/>
                </a:solidFill>
                <a:latin typeface="Arial MT"/>
                <a:cs typeface="Arial MT"/>
              </a:rPr>
              <a:t>2</a:t>
            </a:r>
            <a:r>
              <a:rPr dirty="0" sz="2450" spc="-80">
                <a:solidFill>
                  <a:srgbClr val="939AAF"/>
                </a:solidFill>
                <a:latin typeface="Arial MT"/>
                <a:cs typeface="Arial MT"/>
              </a:rPr>
              <a:t> </a:t>
            </a:r>
            <a:r>
              <a:rPr dirty="0" sz="2450" spc="-520">
                <a:solidFill>
                  <a:srgbClr val="939AAF"/>
                </a:solidFill>
                <a:latin typeface="Arial MT"/>
                <a:cs typeface="Arial MT"/>
              </a:rPr>
              <a:t>1ó%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450">
              <a:latin typeface="Arial MT"/>
              <a:cs typeface="Arial MT"/>
            </a:endParaRPr>
          </a:p>
          <a:p>
            <a:pPr marL="719455">
              <a:lnSpc>
                <a:spcPct val="100000"/>
              </a:lnSpc>
              <a:spcBef>
                <a:spcPts val="5"/>
              </a:spcBef>
            </a:pPr>
            <a:r>
              <a:rPr dirty="0" sz="2450" spc="65">
                <a:solidFill>
                  <a:srgbClr val="FFFFFF"/>
                </a:solidFill>
                <a:latin typeface="Arial MT"/>
                <a:cs typeface="Arial MT"/>
              </a:rPr>
              <a:t>Uttorakhond:</a:t>
            </a:r>
            <a:r>
              <a:rPr dirty="0" sz="24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70">
                <a:solidFill>
                  <a:srgbClr val="9AA7BA"/>
                </a:solidFill>
                <a:latin typeface="Arial MT"/>
                <a:cs typeface="Arial MT"/>
              </a:rPr>
              <a:t>2 </a:t>
            </a:r>
            <a:r>
              <a:rPr dirty="0" sz="2450" spc="-25">
                <a:solidFill>
                  <a:srgbClr val="9AA7BA"/>
                </a:solidFill>
                <a:latin typeface="Arial MT"/>
                <a:cs typeface="Arial MT"/>
              </a:rPr>
              <a:t>15ü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0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5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026046" y="-30369"/>
            <a:ext cx="266382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@Medical</a:t>
            </a:r>
            <a:r>
              <a:rPr dirty="0" sz="190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125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1115149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pc="215">
                <a:solidFill>
                  <a:srgbClr val="59F6DD"/>
                </a:solidFill>
              </a:rPr>
              <a:t>Active</a:t>
            </a:r>
            <a:r>
              <a:rPr dirty="0" spc="70">
                <a:solidFill>
                  <a:srgbClr val="59F6DD"/>
                </a:solidFill>
              </a:rPr>
              <a:t> </a:t>
            </a:r>
            <a:r>
              <a:rPr dirty="0" spc="145">
                <a:solidFill>
                  <a:srgbClr val="6EE2D6"/>
                </a:solidFill>
              </a:rPr>
              <a:t>Ratio</a:t>
            </a:r>
            <a:r>
              <a:rPr dirty="0" spc="95">
                <a:solidFill>
                  <a:srgbClr val="6EE2D6"/>
                </a:solidFill>
              </a:rPr>
              <a:t> </a:t>
            </a:r>
            <a:r>
              <a:rPr dirty="0" spc="-10">
                <a:solidFill>
                  <a:srgbClr val="66E6D3"/>
                </a:solidFill>
              </a:rPr>
              <a:t>Peaks</a:t>
            </a:r>
          </a:p>
        </p:txBody>
      </p:sp>
      <p:sp>
        <p:nvSpPr>
          <p:cNvPr id="6" name="object 6"/>
          <p:cNvSpPr/>
          <p:nvPr/>
        </p:nvSpPr>
        <p:spPr>
          <a:xfrm>
            <a:off x="15706" y="3628161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4130764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23339" y="3418479"/>
            <a:ext cx="7142480" cy="103060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115"/>
              </a:spcBef>
            </a:pPr>
            <a:r>
              <a:rPr dirty="0" sz="2450">
                <a:solidFill>
                  <a:srgbClr val="A8A8A8"/>
                </a:solidFill>
                <a:latin typeface="Arial MT"/>
                <a:cs typeface="Arial MT"/>
              </a:rPr>
              <a:t>The</a:t>
            </a:r>
            <a:r>
              <a:rPr dirty="0" sz="2450" spc="5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Active</a:t>
            </a:r>
            <a:r>
              <a:rPr dirty="0" sz="24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Ratio</a:t>
            </a:r>
            <a:r>
              <a:rPr dirty="0" sz="24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60">
                <a:solidFill>
                  <a:srgbClr val="ACACAC"/>
                </a:solidFill>
                <a:latin typeface="Arial MT"/>
                <a:cs typeface="Arial MT"/>
              </a:rPr>
              <a:t>reDresenfs</a:t>
            </a:r>
            <a:r>
              <a:rPr dirty="0" sz="2450" spc="17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the</a:t>
            </a:r>
            <a:r>
              <a:rPr dirty="0" sz="2450" spc="-11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EAEAE"/>
                </a:solidFill>
                <a:latin typeface="Arial MT"/>
                <a:cs typeface="Arial MT"/>
              </a:rPr>
              <a:t>current</a:t>
            </a:r>
            <a:r>
              <a:rPr dirty="0" sz="2450" spc="15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FAFAF"/>
                </a:solidFill>
                <a:latin typeface="Arial MT"/>
                <a:cs typeface="Arial MT"/>
              </a:rPr>
              <a:t>load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on</a:t>
            </a:r>
            <a:r>
              <a:rPr dirty="0" sz="2450" spc="-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B1B1B1"/>
                </a:solidFill>
                <a:latin typeface="Arial MT"/>
                <a:cs typeface="Arial MT"/>
              </a:rPr>
              <a:t>the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50" spc="-90">
                <a:solidFill>
                  <a:srgbClr val="AFAFAF"/>
                </a:solidFill>
                <a:latin typeface="Lucida Sans Unicode"/>
                <a:cs typeface="Lucida Sans Unicode"/>
              </a:rPr>
              <a:t>healthcare</a:t>
            </a:r>
            <a:r>
              <a:rPr dirty="0" sz="2450" spc="-40">
                <a:solidFill>
                  <a:srgbClr val="AFAFA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ACACAC"/>
                </a:solidFill>
                <a:latin typeface="Lucida Sans Unicode"/>
                <a:cs typeface="Lucida Sans Unicode"/>
              </a:rPr>
              <a:t>system.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6769427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706" y="7272029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706" y="8402885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706" y="890548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22315" y="6559743"/>
            <a:ext cx="7504430" cy="266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" marR="5080" indent="-11430">
              <a:lnSpc>
                <a:spcPct val="134600"/>
              </a:lnSpc>
              <a:spcBef>
                <a:spcPts val="100"/>
              </a:spcBef>
            </a:pPr>
            <a:r>
              <a:rPr dirty="0" sz="2450" spc="80">
                <a:solidFill>
                  <a:srgbClr val="FFFFFF"/>
                </a:solidFill>
                <a:latin typeface="Arial MT"/>
                <a:cs typeface="Arial MT"/>
              </a:rPr>
              <a:t>Mizorom</a:t>
            </a:r>
            <a:r>
              <a:rPr dirty="0" sz="24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AAAAA"/>
                </a:solidFill>
                <a:latin typeface="Arial MT"/>
                <a:cs typeface="Arial MT"/>
              </a:rPr>
              <a:t>currently</a:t>
            </a:r>
            <a:r>
              <a:rPr dirty="0" sz="2450" spc="10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holds</a:t>
            </a:r>
            <a:r>
              <a:rPr dirty="0" sz="2450" spc="6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the</a:t>
            </a:r>
            <a:r>
              <a:rPr dirty="0" sz="2450" spc="-10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EAEAE"/>
                </a:solidFill>
                <a:latin typeface="Arial MT"/>
                <a:cs typeface="Arial MT"/>
              </a:rPr>
              <a:t>highest</a:t>
            </a:r>
            <a:r>
              <a:rPr dirty="0" sz="2450" spc="13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FAFAF"/>
                </a:solidFill>
                <a:latin typeface="Arial MT"/>
                <a:cs typeface="Arial MT"/>
              </a:rPr>
              <a:t>active</a:t>
            </a:r>
            <a:r>
              <a:rPr dirty="0" sz="2450" spc="-8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ratio</a:t>
            </a:r>
            <a:r>
              <a:rPr dirty="0" sz="2450" spc="-7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8A8A8"/>
                </a:solidFill>
                <a:latin typeface="Arial MT"/>
                <a:cs typeface="Arial MT"/>
              </a:rPr>
              <a:t>in</a:t>
            </a:r>
            <a:r>
              <a:rPr dirty="0" sz="2450" spc="-8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AEAEAE"/>
                </a:solidFill>
                <a:latin typeface="Arial MT"/>
                <a:cs typeface="Arial MT"/>
              </a:rPr>
              <a:t>the </a:t>
            </a:r>
            <a:r>
              <a:rPr dirty="0" sz="2450" spc="-20">
                <a:solidFill>
                  <a:srgbClr val="ACACAC"/>
                </a:solidFill>
                <a:latin typeface="Arial MT"/>
                <a:cs typeface="Arial MT"/>
              </a:rPr>
              <a:t>country,</a:t>
            </a:r>
            <a:r>
              <a:rPr dirty="0" sz="2450" spc="3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significantly</a:t>
            </a:r>
            <a:r>
              <a:rPr dirty="0" sz="2450" spc="14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EAEAE"/>
                </a:solidFill>
                <a:latin typeface="Arial MT"/>
                <a:cs typeface="Arial MT"/>
              </a:rPr>
              <a:t>exceeding</a:t>
            </a:r>
            <a:r>
              <a:rPr dirty="0" sz="2450" spc="18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the</a:t>
            </a:r>
            <a:r>
              <a:rPr dirty="0" sz="2450" spc="-9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national</a:t>
            </a:r>
            <a:r>
              <a:rPr dirty="0" sz="2450" spc="1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CACAC"/>
                </a:solidFill>
                <a:latin typeface="Arial MT"/>
                <a:cs typeface="Arial MT"/>
              </a:rPr>
              <a:t>average.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4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2450" spc="-110">
                <a:solidFill>
                  <a:srgbClr val="B3B3B3"/>
                </a:solidFill>
                <a:latin typeface="Lucida Sans Unicode"/>
                <a:cs typeface="Lucida Sans Unicode"/>
              </a:rPr>
              <a:t>Other</a:t>
            </a:r>
            <a:r>
              <a:rPr dirty="0" sz="2450" spc="-85">
                <a:solidFill>
                  <a:srgbClr val="B3B3B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0">
                <a:solidFill>
                  <a:srgbClr val="B1B1B1"/>
                </a:solidFill>
                <a:latin typeface="Lucida Sans Unicode"/>
                <a:cs typeface="Lucida Sans Unicode"/>
              </a:rPr>
              <a:t>notable</a:t>
            </a:r>
            <a:r>
              <a:rPr dirty="0" sz="2450" spc="-114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5">
                <a:solidFill>
                  <a:srgbClr val="AEAEAE"/>
                </a:solidFill>
                <a:latin typeface="Lucida Sans Unicode"/>
                <a:cs typeface="Lucida Sans Unicode"/>
              </a:rPr>
              <a:t>active</a:t>
            </a:r>
            <a:r>
              <a:rPr dirty="0" sz="2450" spc="-170">
                <a:solidFill>
                  <a:srgbClr val="AEAEA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0">
                <a:solidFill>
                  <a:srgbClr val="A5A5A5"/>
                </a:solidFill>
                <a:latin typeface="Lucida Sans Unicode"/>
                <a:cs typeface="Lucida Sans Unicode"/>
              </a:rPr>
              <a:t>loads</a:t>
            </a:r>
            <a:r>
              <a:rPr dirty="0" sz="2450" spc="-125">
                <a:solidFill>
                  <a:srgbClr val="A5A5A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70">
                <a:solidFill>
                  <a:srgbClr val="AEAEAE"/>
                </a:solidFill>
                <a:latin typeface="Lucida Sans Unicode"/>
                <a:cs typeface="Lucida Sans Unicode"/>
              </a:rPr>
              <a:t>include</a:t>
            </a:r>
            <a:r>
              <a:rPr dirty="0" sz="2450" spc="-55">
                <a:solidFill>
                  <a:srgbClr val="AEAEA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14">
                <a:solidFill>
                  <a:srgbClr val="ACACAC"/>
                </a:solidFill>
                <a:latin typeface="Lucida Sans Unicode"/>
                <a:cs typeface="Lucida Sans Unicode"/>
              </a:rPr>
              <a:t>Kerala</a:t>
            </a:r>
            <a:r>
              <a:rPr dirty="0" sz="2450" spc="105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15">
                <a:solidFill>
                  <a:srgbClr val="B1B1B1"/>
                </a:solidFill>
                <a:latin typeface="Lucida Sans Unicode"/>
                <a:cs typeface="Lucida Sans Unicode"/>
              </a:rPr>
              <a:t>(1.37%)</a:t>
            </a:r>
            <a:r>
              <a:rPr dirty="0" sz="2450" spc="40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AAAAAA"/>
                </a:solidFill>
                <a:latin typeface="Lucida Sans Unicode"/>
                <a:cs typeface="Lucida Sans Unicode"/>
              </a:rPr>
              <a:t>and</a:t>
            </a:r>
            <a:endParaRPr sz="2450">
              <a:latin typeface="Lucida Sans Unicode"/>
              <a:cs typeface="Lucida Sans Unicode"/>
            </a:endParaRPr>
          </a:p>
          <a:p>
            <a:pPr marL="19050">
              <a:lnSpc>
                <a:spcPct val="100000"/>
              </a:lnSpc>
              <a:spcBef>
                <a:spcPts val="915"/>
              </a:spcBef>
            </a:pPr>
            <a:r>
              <a:rPr dirty="0" sz="2550" spc="-10">
                <a:solidFill>
                  <a:srgbClr val="B3B3B3"/>
                </a:solidFill>
                <a:latin typeface="Arial MT"/>
                <a:cs typeface="Arial MT"/>
              </a:rPr>
              <a:t>Ladakh</a:t>
            </a:r>
            <a:r>
              <a:rPr dirty="0" sz="2550" spc="-13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550" spc="-425">
                <a:solidFill>
                  <a:srgbClr val="545972"/>
                </a:solidFill>
                <a:latin typeface="Arial MT"/>
                <a:cs typeface="Arial MT"/>
              </a:rPr>
              <a:t>TO.73%).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083736"/>
            <a:ext cx="20080605" cy="715010"/>
          </a:xfrm>
          <a:custGeom>
            <a:avLst/>
            <a:gdLst/>
            <a:ahLst/>
            <a:cxnLst/>
            <a:rect l="l" t="t" r="r" b="b"/>
            <a:pathLst>
              <a:path w="20080605" h="715010">
                <a:moveTo>
                  <a:pt x="20080541" y="714637"/>
                </a:moveTo>
                <a:lnTo>
                  <a:pt x="0" y="71463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14637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dirty="0" spc="130">
                <a:solidFill>
                  <a:srgbClr val="54EBD4"/>
                </a:solidFill>
              </a:rPr>
              <a:t>Comparative</a:t>
            </a:r>
            <a:r>
              <a:rPr dirty="0" spc="355">
                <a:solidFill>
                  <a:srgbClr val="54EBD4"/>
                </a:solidFill>
              </a:rPr>
              <a:t> </a:t>
            </a:r>
            <a:r>
              <a:rPr dirty="0" spc="345">
                <a:solidFill>
                  <a:srgbClr val="60EFD8"/>
                </a:solidFill>
              </a:rPr>
              <a:t>Statistics</a:t>
            </a:r>
            <a:r>
              <a:rPr dirty="0" spc="280">
                <a:solidFill>
                  <a:srgbClr val="60EFD8"/>
                </a:solidFill>
              </a:rPr>
              <a:t> </a:t>
            </a:r>
            <a:r>
              <a:rPr dirty="0" spc="105">
                <a:solidFill>
                  <a:srgbClr val="5EE9D4"/>
                </a:solidFill>
              </a:rPr>
              <a:t>(Top</a:t>
            </a:r>
            <a:r>
              <a:rPr dirty="0" spc="-395">
                <a:solidFill>
                  <a:srgbClr val="5EE9D4"/>
                </a:solidFill>
              </a:rPr>
              <a:t> </a:t>
            </a:r>
            <a:r>
              <a:rPr dirty="0" spc="175">
                <a:solidFill>
                  <a:srgbClr val="70DFD6"/>
                </a:solidFill>
              </a:rPr>
              <a:t>10</a:t>
            </a:r>
            <a:r>
              <a:rPr dirty="0" spc="-35">
                <a:solidFill>
                  <a:srgbClr val="70DFD6"/>
                </a:solidFill>
              </a:rPr>
              <a:t> </a:t>
            </a:r>
            <a:r>
              <a:rPr dirty="0" spc="229">
                <a:solidFill>
                  <a:srgbClr val="59EDD6"/>
                </a:solidFill>
              </a:rPr>
              <a:t>States)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706" y="3722399"/>
            <a:ext cx="20088860" cy="346075"/>
            <a:chOff x="15706" y="3722399"/>
            <a:chExt cx="20088860" cy="346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3722399"/>
              <a:ext cx="20088393" cy="3455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3722399"/>
              <a:ext cx="20088393" cy="34553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5706" y="4759017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2615" y="4695271"/>
            <a:ext cx="17811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55">
                <a:solidFill>
                  <a:srgbClr val="AFAFAF"/>
                </a:solidFill>
                <a:latin typeface="Lucida Sans Unicode"/>
                <a:cs typeface="Lucida Sans Unicode"/>
              </a:rPr>
              <a:t>/V\aharashtra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0509" y="4662550"/>
            <a:ext cx="130048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90">
                <a:solidFill>
                  <a:srgbClr val="4F6074"/>
                </a:solidFill>
                <a:latin typeface="Cambria"/>
                <a:cs typeface="Cambria"/>
              </a:rPr>
              <a:t>ó,ó23,344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67714" y="4662550"/>
            <a:ext cx="123698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385">
                <a:solidFill>
                  <a:srgbClr val="AAAAAA"/>
                </a:solidFill>
                <a:latin typeface="Lucida Sans Unicode"/>
                <a:cs typeface="Lucida Sans Unicode"/>
              </a:rPr>
              <a:t>ó,4óó,913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28922" y="4678911"/>
            <a:ext cx="995044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85">
                <a:solidFill>
                  <a:srgbClr val="A8A8A8"/>
                </a:solidFill>
                <a:latin typeface="Cambria"/>
                <a:cs typeface="Cambria"/>
              </a:rPr>
              <a:t>ł4O,5ó5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45289" y="4646189"/>
            <a:ext cx="99441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95">
                <a:solidFill>
                  <a:srgbClr val="AFAFAF"/>
                </a:solidFill>
                <a:latin typeface="Courier New"/>
                <a:cs typeface="Courier New"/>
              </a:rPr>
              <a:t>P7D4%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" y="5779928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75548" y="5699822"/>
            <a:ext cx="858519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35">
                <a:solidFill>
                  <a:srgbClr val="AAAAAA"/>
                </a:solidFill>
                <a:latin typeface="Lucida Sans Unicode"/>
                <a:cs typeface="Lucida Sans Unicode"/>
              </a:rPr>
              <a:t>Kerala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5355" y="5683461"/>
            <a:ext cx="133286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320">
                <a:solidFill>
                  <a:srgbClr val="5E6E85"/>
                </a:solidFill>
                <a:latin typeface="Lucida Sans Unicode"/>
                <a:cs typeface="Lucida Sans Unicode"/>
              </a:rPr>
              <a:t>5,055,224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81614" y="5699822"/>
            <a:ext cx="123634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14">
                <a:solidFill>
                  <a:srgbClr val="9E9E9E"/>
                </a:solidFill>
                <a:latin typeface="Cambria"/>
                <a:cs typeface="Cambria"/>
              </a:rPr>
              <a:t>4,950,281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09038" y="5699822"/>
            <a:ext cx="92329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30">
                <a:solidFill>
                  <a:srgbClr val="7989A0"/>
                </a:solidFill>
                <a:latin typeface="Cambria"/>
                <a:cs typeface="Cambria"/>
              </a:rPr>
              <a:t>35,ó85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58544" y="5667100"/>
            <a:ext cx="94234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315">
                <a:solidFill>
                  <a:srgbClr val="8EAABF"/>
                </a:solidFill>
                <a:latin typeface="Consolas"/>
                <a:cs typeface="Consolas"/>
              </a:rPr>
              <a:t>97.92%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706" y="680083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30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77073" y="6737094"/>
            <a:ext cx="143637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AAAAAA"/>
                </a:solidFill>
                <a:latin typeface="Lucida Sans Unicode"/>
                <a:cs typeface="Lucida Sans Unicode"/>
              </a:rPr>
              <a:t>Karna!aka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7973" y="6704372"/>
            <a:ext cx="113030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490">
                <a:solidFill>
                  <a:srgbClr val="AEAEAE"/>
                </a:solidFill>
                <a:latin typeface="Lucida Sans Unicode"/>
                <a:cs typeface="Lucida Sans Unicode"/>
              </a:rPr>
              <a:t>2,991,ó14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83608" y="6704372"/>
            <a:ext cx="121920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215">
                <a:solidFill>
                  <a:srgbClr val="9399A8"/>
                </a:solidFill>
                <a:latin typeface="Arial MT"/>
                <a:cs typeface="Arial MT"/>
              </a:rPr>
              <a:t>2,945,415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617150" y="6704372"/>
            <a:ext cx="79629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305">
                <a:solidFill>
                  <a:srgbClr val="A3A3A3"/>
                </a:solidFill>
                <a:latin typeface="Arial MT"/>
                <a:cs typeface="Arial MT"/>
              </a:rPr>
              <a:t>38,143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126983" y="6671651"/>
            <a:ext cx="100838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25">
                <a:solidFill>
                  <a:srgbClr val="AEAEAE"/>
                </a:solidFill>
                <a:latin typeface="Courier New"/>
                <a:cs typeface="Courier New"/>
              </a:rPr>
              <a:t>9846%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706" y="7821751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89401" y="7741645"/>
            <a:ext cx="160083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A1A1A1"/>
                </a:solidFill>
                <a:latin typeface="Arial MT"/>
                <a:cs typeface="Arial MT"/>
              </a:rPr>
              <a:t>Tamil</a:t>
            </a:r>
            <a:r>
              <a:rPr dirty="0" sz="2450" spc="-14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A8A8A8"/>
                </a:solidFill>
                <a:latin typeface="Arial MT"/>
                <a:cs typeface="Arial MT"/>
              </a:rPr>
              <a:t>Nadu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40475" y="7708923"/>
            <a:ext cx="124777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50">
                <a:solidFill>
                  <a:srgbClr val="ACACAC"/>
                </a:solidFill>
                <a:latin typeface="Consolas"/>
                <a:cs typeface="Consolas"/>
              </a:rPr>
              <a:t>2,7l4,O2S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83121" y="7708923"/>
            <a:ext cx="129413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25">
                <a:solidFill>
                  <a:srgbClr val="08182F"/>
                </a:solidFill>
                <a:latin typeface="Arial MT"/>
                <a:cs typeface="Arial MT"/>
              </a:rPr>
              <a:t>2,óó8,001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616460" y="7708923"/>
            <a:ext cx="8978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29">
                <a:solidFill>
                  <a:srgbClr val="5B677C"/>
                </a:solidFill>
                <a:latin typeface="Arial MT"/>
                <a:cs typeface="Arial MT"/>
              </a:rPr>
              <a:t>3ó,273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126983" y="7692563"/>
            <a:ext cx="100838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125">
                <a:solidFill>
                  <a:srgbClr val="909CAE"/>
                </a:solidFill>
                <a:latin typeface="Courier New"/>
                <a:cs typeface="Courier New"/>
              </a:rPr>
              <a:t>9830%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706" y="8842662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94108" y="8762556"/>
            <a:ext cx="22288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40">
                <a:solidFill>
                  <a:srgbClr val="ACACAC"/>
                </a:solidFill>
                <a:latin typeface="Lucida Sans Unicode"/>
                <a:cs typeface="Lucida Sans Unicode"/>
              </a:rPr>
              <a:t>Andhra</a:t>
            </a:r>
            <a:r>
              <a:rPr dirty="0" sz="2450" spc="-35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0">
                <a:solidFill>
                  <a:srgbClr val="B1B1B1"/>
                </a:solidFill>
                <a:latin typeface="Lucida Sans Unicode"/>
                <a:cs typeface="Lucida Sans Unicode"/>
              </a:rPr>
              <a:t>Pradesh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36449" y="8729834"/>
            <a:ext cx="137985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70">
                <a:solidFill>
                  <a:srgbClr val="ACACAC"/>
                </a:solidFill>
                <a:latin typeface="Courier New"/>
                <a:cs typeface="Courier New"/>
              </a:rPr>
              <a:t>2,06P,770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85917" y="8729834"/>
            <a:ext cx="133159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60">
                <a:solidFill>
                  <a:srgbClr val="AFAFAF"/>
                </a:solidFill>
                <a:latin typeface="Times New Roman"/>
                <a:cs typeface="Times New Roman"/>
              </a:rPr>
              <a:t>2,052,230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585055" y="8762556"/>
            <a:ext cx="76073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484">
                <a:solidFill>
                  <a:srgbClr val="778797"/>
                </a:solidFill>
                <a:latin typeface="Lucida Sans Unicode"/>
                <a:cs typeface="Lucida Sans Unicode"/>
              </a:rPr>
              <a:t>14,412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162376" y="8746195"/>
            <a:ext cx="86868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50">
                <a:solidFill>
                  <a:srgbClr val="959EAF"/>
                </a:solidFill>
                <a:latin typeface="Times New Roman"/>
                <a:cs typeface="Times New Roman"/>
              </a:rPr>
              <a:t>99</a:t>
            </a:r>
            <a:r>
              <a:rPr dirty="0" sz="2550" spc="-30">
                <a:solidFill>
                  <a:srgbClr val="959EAF"/>
                </a:solidFill>
                <a:latin typeface="Times New Roman"/>
                <a:cs typeface="Times New Roman"/>
              </a:rPr>
              <a:t> </a:t>
            </a:r>
            <a:r>
              <a:rPr dirty="0" sz="2550" spc="-380">
                <a:solidFill>
                  <a:srgbClr val="959EAF"/>
                </a:solidFill>
                <a:latin typeface="Times New Roman"/>
                <a:cs typeface="Times New Roman"/>
              </a:rPr>
              <a:t>J5%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115149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4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60EBD6"/>
                </a:solidFill>
              </a:rPr>
              <a:t>Keg</a:t>
            </a:r>
            <a:r>
              <a:rPr dirty="0" spc="-35">
                <a:solidFill>
                  <a:srgbClr val="60EBD6"/>
                </a:solidFill>
              </a:rPr>
              <a:t> </a:t>
            </a:r>
            <a:r>
              <a:rPr dirty="0" spc="260"/>
              <a:t>Strategic</a:t>
            </a:r>
            <a:r>
              <a:rPr dirty="0" spc="315"/>
              <a:t> </a:t>
            </a:r>
            <a:r>
              <a:rPr dirty="0" spc="290">
                <a:solidFill>
                  <a:srgbClr val="66E6D3"/>
                </a:solidFill>
              </a:rPr>
              <a:t>Insights</a:t>
            </a:r>
          </a:p>
        </p:txBody>
      </p:sp>
      <p:sp>
        <p:nvSpPr>
          <p:cNvPr id="4" name="object 4"/>
          <p:cNvSpPr/>
          <p:nvPr/>
        </p:nvSpPr>
        <p:spPr>
          <a:xfrm>
            <a:off x="15706" y="5230207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68904" y="5132431"/>
            <a:ext cx="183515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110">
                <a:solidFill>
                  <a:srgbClr val="56E1CA"/>
                </a:solidFill>
                <a:latin typeface="Arial MT"/>
                <a:cs typeface="Arial MT"/>
              </a:rPr>
              <a:t>Resilience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8043" y="5132431"/>
            <a:ext cx="2025014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245">
                <a:solidFill>
                  <a:srgbClr val="5DC1BC"/>
                </a:solidFill>
                <a:latin typeface="Arial MT"/>
                <a:cs typeface="Arial MT"/>
              </a:rPr>
              <a:t>Monitoring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36030" y="5132431"/>
            <a:ext cx="1758314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180">
                <a:solidFill>
                  <a:srgbClr val="60BFBC"/>
                </a:solidFill>
                <a:latin typeface="Arial MT"/>
                <a:cs typeface="Arial MT"/>
              </a:rPr>
              <a:t>Targeting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6046936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68206" y="5966829"/>
            <a:ext cx="39903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20">
                <a:solidFill>
                  <a:srgbClr val="6B7282"/>
                </a:solidFill>
                <a:latin typeface="Lucida Sans Unicode"/>
                <a:cs typeface="Lucida Sans Unicode"/>
              </a:rPr>
              <a:t>Despite</a:t>
            </a:r>
            <a:r>
              <a:rPr dirty="0" sz="2450" spc="-135">
                <a:solidFill>
                  <a:srgbClr val="6B7282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B1B1B1"/>
                </a:solidFill>
                <a:latin typeface="Lucida Sans Unicode"/>
                <a:cs typeface="Lucida Sans Unicode"/>
              </a:rPr>
              <a:t>heavy</a:t>
            </a:r>
            <a:r>
              <a:rPr dirty="0" sz="2450" spc="-85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A7A7A7"/>
                </a:solidFill>
                <a:latin typeface="Lucida Sans Unicode"/>
                <a:cs typeface="Lucida Sans Unicode"/>
              </a:rPr>
              <a:t>case</a:t>
            </a:r>
            <a:r>
              <a:rPr dirty="0" sz="2450" spc="-135">
                <a:solidFill>
                  <a:srgbClr val="A7A7A7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80">
                <a:solidFill>
                  <a:srgbClr val="B3B3B3"/>
                </a:solidFill>
                <a:latin typeface="Lucida Sans Unicode"/>
                <a:cs typeface="Lucida Sans Unicode"/>
              </a:rPr>
              <a:t>volumes,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0355" y="5950468"/>
            <a:ext cx="403987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65">
                <a:solidFill>
                  <a:srgbClr val="A8A8A8"/>
                </a:solidFill>
                <a:latin typeface="Arial MT"/>
                <a:cs typeface="Arial MT"/>
              </a:rPr>
              <a:t>Zones</a:t>
            </a:r>
            <a:r>
              <a:rPr dirty="0" sz="2550" spc="-114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550" spc="-80">
                <a:solidFill>
                  <a:srgbClr val="A5A5A5"/>
                </a:solidFill>
                <a:latin typeface="Arial MT"/>
                <a:cs typeface="Arial MT"/>
              </a:rPr>
              <a:t>like</a:t>
            </a:r>
            <a:r>
              <a:rPr dirty="0" sz="2550" spc="-10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550" spc="-105">
                <a:solidFill>
                  <a:srgbClr val="939393"/>
                </a:solidFill>
                <a:latin typeface="Arial MT"/>
                <a:cs typeface="Arial MT"/>
              </a:rPr>
              <a:t>South</a:t>
            </a:r>
            <a:r>
              <a:rPr dirty="0" sz="2550" spc="-7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939393"/>
                </a:solidFill>
                <a:latin typeface="Arial MT"/>
                <a:cs typeface="Arial MT"/>
              </a:rPr>
              <a:t>India</a:t>
            </a:r>
            <a:r>
              <a:rPr dirty="0" sz="2550" spc="-125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2550" spc="-75">
                <a:solidFill>
                  <a:srgbClr val="AFAFAF"/>
                </a:solidFill>
                <a:latin typeface="Arial MT"/>
                <a:cs typeface="Arial MT"/>
              </a:rPr>
              <a:t>reauire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44989" y="5966829"/>
            <a:ext cx="344741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5">
                <a:solidFill>
                  <a:srgbClr val="3F495D"/>
                </a:solidFill>
                <a:latin typeface="Lucida Sans Unicode"/>
                <a:cs typeface="Lucida Sans Unicode"/>
              </a:rPr>
              <a:t>States</a:t>
            </a:r>
            <a:r>
              <a:rPr dirty="0" sz="2450" spc="-120">
                <a:solidFill>
                  <a:srgbClr val="3F495D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0">
                <a:solidFill>
                  <a:srgbClr val="A5A5A5"/>
                </a:solidFill>
                <a:latin typeface="Lucida Sans Unicode"/>
                <a:cs typeface="Lucida Sans Unicode"/>
              </a:rPr>
              <a:t>like</a:t>
            </a:r>
            <a:r>
              <a:rPr dirty="0" sz="2450" spc="-165">
                <a:solidFill>
                  <a:srgbClr val="A5A5A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85">
                <a:solidFill>
                  <a:srgbClr val="B1B1B1"/>
                </a:solidFill>
                <a:latin typeface="Lucida Sans Unicode"/>
                <a:cs typeface="Lucida Sans Unicode"/>
              </a:rPr>
              <a:t>Punjab</a:t>
            </a:r>
            <a:r>
              <a:rPr dirty="0" sz="2450" spc="-40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0">
                <a:solidFill>
                  <a:srgbClr val="ACACAC"/>
                </a:solidFill>
                <a:latin typeface="Lucida Sans Unicode"/>
                <a:cs typeface="Lucida Sans Unicode"/>
              </a:rPr>
              <a:t>reauire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06" y="654953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68872" y="6485793"/>
            <a:ext cx="402336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AAAAAA"/>
                </a:solidFill>
                <a:latin typeface="Lucida Sans Unicode"/>
                <a:cs typeface="Lucida Sans Unicode"/>
              </a:rPr>
              <a:t>large</a:t>
            </a:r>
            <a:r>
              <a:rPr dirty="0" sz="2300" spc="-50">
                <a:solidFill>
                  <a:srgbClr val="AAAAAA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A5A5A5"/>
                </a:solidFill>
                <a:latin typeface="Lucida Sans Unicode"/>
                <a:cs typeface="Lucida Sans Unicode"/>
              </a:rPr>
              <a:t>slates</a:t>
            </a:r>
            <a:r>
              <a:rPr dirty="0" sz="2300" spc="25">
                <a:solidFill>
                  <a:srgbClr val="A5A5A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40">
                <a:solidFill>
                  <a:srgbClr val="6B7285"/>
                </a:solidFill>
                <a:latin typeface="Lucida Sans Unicode"/>
                <a:cs typeface="Lucida Sans Unicode"/>
              </a:rPr>
              <a:t>like</a:t>
            </a:r>
            <a:r>
              <a:rPr dirty="0" sz="2300" spc="-45">
                <a:solidFill>
                  <a:srgbClr val="6B728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40">
                <a:solidFill>
                  <a:srgbClr val="AFAFAF"/>
                </a:solidFill>
                <a:latin typeface="Lucida Sans Unicode"/>
                <a:cs typeface="Lucida Sans Unicode"/>
              </a:rPr>
              <a:t>/V\aharashtra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00054" y="6469432"/>
            <a:ext cx="415226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00">
                <a:solidFill>
                  <a:srgbClr val="B1B1B1"/>
                </a:solidFill>
                <a:latin typeface="Lucida Sans Unicode"/>
                <a:cs typeface="Lucida Sans Unicode"/>
              </a:rPr>
              <a:t>continuous</a:t>
            </a:r>
            <a:r>
              <a:rPr dirty="0" sz="2450" spc="50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55">
                <a:solidFill>
                  <a:srgbClr val="9C9C9C"/>
                </a:solidFill>
                <a:latin typeface="Lucida Sans Unicode"/>
                <a:cs typeface="Lucida Sans Unicode"/>
              </a:rPr>
              <a:t>resource</a:t>
            </a:r>
            <a:r>
              <a:rPr dirty="0" sz="2450" spc="-5">
                <a:solidFill>
                  <a:srgbClr val="9C9C9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10">
                <a:solidFill>
                  <a:srgbClr val="A8A8A8"/>
                </a:solidFill>
                <a:latin typeface="Lucida Sans Unicode"/>
                <a:cs typeface="Lucida Sans Unicode"/>
              </a:rPr>
              <a:t>aIIoca*ion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28491" y="6469432"/>
            <a:ext cx="375729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14">
                <a:solidFill>
                  <a:srgbClr val="606B80"/>
                </a:solidFill>
                <a:latin typeface="Lucida Sans Unicode"/>
                <a:cs typeface="Lucida Sans Unicode"/>
              </a:rPr>
              <a:t>specific</a:t>
            </a:r>
            <a:r>
              <a:rPr dirty="0" sz="2450" spc="-80">
                <a:solidFill>
                  <a:srgbClr val="606B80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5">
                <a:solidFill>
                  <a:srgbClr val="AFAFAF"/>
                </a:solidFill>
                <a:latin typeface="Lucida Sans Unicode"/>
                <a:cs typeface="Lucida Sans Unicode"/>
              </a:rPr>
              <a:t>mortality</a:t>
            </a:r>
            <a:r>
              <a:rPr dirty="0" sz="2450" spc="25">
                <a:solidFill>
                  <a:srgbClr val="AFAFA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65">
                <a:solidFill>
                  <a:srgbClr val="A8A8A8"/>
                </a:solidFill>
                <a:latin typeface="Lucida Sans Unicode"/>
                <a:cs typeface="Lucida Sans Unicode"/>
              </a:rPr>
              <a:t>reduc*ion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706" y="7052141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308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67298" y="6972034"/>
            <a:ext cx="421640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5">
                <a:solidFill>
                  <a:srgbClr val="A8A8A8"/>
                </a:solidFill>
                <a:latin typeface="Lucida Sans Unicode"/>
                <a:cs typeface="Lucida Sans Unicode"/>
              </a:rPr>
              <a:t>maintain</a:t>
            </a:r>
            <a:r>
              <a:rPr dirty="0" sz="2450" spc="-114">
                <a:solidFill>
                  <a:srgbClr val="A8A8A8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30">
                <a:solidFill>
                  <a:srgbClr val="B1B1B1"/>
                </a:solidFill>
                <a:latin typeface="Lucida Sans Unicode"/>
                <a:cs typeface="Lucida Sans Unicode"/>
              </a:rPr>
              <a:t>recovery</a:t>
            </a:r>
            <a:r>
              <a:rPr dirty="0" sz="2450" spc="55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5">
                <a:solidFill>
                  <a:srgbClr val="AFAFAF"/>
                </a:solidFill>
                <a:latin typeface="Lucida Sans Unicode"/>
                <a:cs typeface="Lucida Sans Unicode"/>
              </a:rPr>
              <a:t>rates</a:t>
            </a:r>
            <a:r>
              <a:rPr dirty="0" sz="2450" spc="-120">
                <a:solidFill>
                  <a:srgbClr val="AFAFA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40">
                <a:solidFill>
                  <a:srgbClr val="A3A3A3"/>
                </a:solidFill>
                <a:latin typeface="Lucida Sans Unicode"/>
                <a:cs typeface="Lucida Sans Unicode"/>
              </a:rPr>
              <a:t>above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06277" y="6972034"/>
            <a:ext cx="443357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due</a:t>
            </a:r>
            <a:r>
              <a:rPr dirty="0" sz="2450" spc="-3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9A9EB1"/>
                </a:solidFill>
                <a:latin typeface="Arial MT"/>
                <a:cs typeface="Arial MT"/>
              </a:rPr>
              <a:t>to</a:t>
            </a:r>
            <a:r>
              <a:rPr dirty="0" sz="2450" spc="-114">
                <a:solidFill>
                  <a:srgbClr val="9A9EB1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AAAAA"/>
                </a:solidFill>
                <a:latin typeface="Arial MT"/>
                <a:cs typeface="Arial MT"/>
              </a:rPr>
              <a:t>consistently</a:t>
            </a:r>
            <a:r>
              <a:rPr dirty="0" sz="2450" spc="15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939393"/>
                </a:solidFill>
                <a:latin typeface="Arial MT"/>
                <a:cs typeface="Arial MT"/>
              </a:rPr>
              <a:t>high</a:t>
            </a:r>
            <a:r>
              <a:rPr dirty="0" sz="2450" spc="-75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FAFAF"/>
                </a:solidFill>
                <a:latin typeface="Arial MT"/>
                <a:cs typeface="Arial MT"/>
              </a:rPr>
              <a:t>metrics.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39524" y="6972034"/>
            <a:ext cx="439420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AFAFAF"/>
                </a:solidFill>
                <a:latin typeface="Arial MT"/>
                <a:cs typeface="Arial MT"/>
              </a:rPr>
              <a:t>interven!ions</a:t>
            </a:r>
            <a:r>
              <a:rPr dirty="0" sz="2450" spc="1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!o</a:t>
            </a:r>
            <a:r>
              <a:rPr dirty="0" sz="2450" spc="2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909090"/>
                </a:solidFill>
                <a:latin typeface="Arial MT"/>
                <a:cs typeface="Arial MT"/>
              </a:rPr>
              <a:t>bring</a:t>
            </a:r>
            <a:r>
              <a:rPr dirty="0" sz="2450" spc="7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the</a:t>
            </a:r>
            <a:r>
              <a:rPr dirty="0" sz="2450" spc="-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45">
                <a:solidFill>
                  <a:srgbClr val="B1B1B1"/>
                </a:solidFill>
                <a:latin typeface="Arial MT"/>
                <a:cs typeface="Arial MT"/>
              </a:rPr>
              <a:t>death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706" y="7570450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60745" y="7458276"/>
            <a:ext cx="5911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30">
                <a:solidFill>
                  <a:srgbClr val="596074"/>
                </a:solidFill>
                <a:latin typeface="Courier New"/>
                <a:cs typeface="Courier New"/>
              </a:rPr>
              <a:t>P7%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39987" y="7474637"/>
            <a:ext cx="391541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0">
                <a:solidFill>
                  <a:srgbClr val="AFAFAF"/>
                </a:solidFill>
                <a:latin typeface="Arial MT"/>
                <a:cs typeface="Arial MT"/>
              </a:rPr>
              <a:t>ra*io</a:t>
            </a:r>
            <a:r>
              <a:rPr dirty="0" sz="2450" spc="-1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93A0B8"/>
                </a:solidFill>
                <a:latin typeface="Arial MT"/>
                <a:cs typeface="Arial MT"/>
              </a:rPr>
              <a:t>in</a:t>
            </a:r>
            <a:r>
              <a:rPr dirty="0" sz="2450" spc="-80">
                <a:solidFill>
                  <a:srgbClr val="93A0B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3A3A3"/>
                </a:solidFill>
                <a:latin typeface="Arial MT"/>
                <a:cs typeface="Arial MT"/>
              </a:rPr>
              <a:t>line</a:t>
            </a:r>
            <a:r>
              <a:rPr dirty="0" sz="2450" spc="2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with</a:t>
            </a:r>
            <a:r>
              <a:rPr dirty="0" sz="2450" spc="-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the</a:t>
            </a:r>
            <a:r>
              <a:rPr dirty="0" sz="2450" spc="-5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959595"/>
                </a:solidFill>
                <a:latin typeface="Arial MT"/>
                <a:cs typeface="Arial MT"/>
              </a:rPr>
              <a:t>national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706" y="8135877"/>
            <a:ext cx="20080605" cy="180975"/>
          </a:xfrm>
          <a:custGeom>
            <a:avLst/>
            <a:gdLst/>
            <a:ahLst/>
            <a:cxnLst/>
            <a:rect l="l" t="t" r="r" b="b"/>
            <a:pathLst>
              <a:path w="20080605" h="180975">
                <a:moveTo>
                  <a:pt x="20080541" y="180622"/>
                </a:moveTo>
                <a:lnTo>
                  <a:pt x="0" y="18062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80622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4028694" y="7960879"/>
            <a:ext cx="89281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155">
                <a:solidFill>
                  <a:srgbClr val="A5A5A5"/>
                </a:solidFill>
                <a:latin typeface="Lucida Sans Unicode"/>
                <a:cs typeface="Lucida Sans Unicode"/>
              </a:rPr>
              <a:t>mean.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2733" y="4170029"/>
            <a:ext cx="13978890" cy="918844"/>
          </a:xfrm>
          <a:custGeom>
            <a:avLst/>
            <a:gdLst/>
            <a:ahLst/>
            <a:cxnLst/>
            <a:rect l="l" t="t" r="r" b="b"/>
            <a:pathLst>
              <a:path w="13978890" h="918845">
                <a:moveTo>
                  <a:pt x="13978632" y="918820"/>
                </a:moveTo>
                <a:lnTo>
                  <a:pt x="0" y="918820"/>
                </a:lnTo>
                <a:lnTo>
                  <a:pt x="0" y="0"/>
                </a:lnTo>
                <a:lnTo>
                  <a:pt x="13978632" y="0"/>
                </a:lnTo>
                <a:lnTo>
                  <a:pt x="13978632" y="918820"/>
                </a:lnTo>
                <a:close/>
              </a:path>
            </a:pathLst>
          </a:custGeom>
          <a:solidFill>
            <a:srgbClr val="000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79278" y="3718861"/>
            <a:ext cx="14008100" cy="16357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50" spc="-10">
                <a:solidFill>
                  <a:srgbClr val="FFFFFF"/>
                </a:solidFill>
                <a:latin typeface="Cambria"/>
                <a:cs typeface="Cambria"/>
              </a:rPr>
              <a:t>Data-</a:t>
            </a:r>
            <a:r>
              <a:rPr dirty="0" sz="10550">
                <a:solidFill>
                  <a:srgbClr val="FFFFFF"/>
                </a:solidFill>
                <a:latin typeface="Cambria"/>
                <a:cs typeface="Cambria"/>
              </a:rPr>
              <a:t>Driven</a:t>
            </a:r>
            <a:r>
              <a:rPr dirty="0" sz="10550" spc="16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0550" spc="175">
                <a:solidFill>
                  <a:srgbClr val="FFFFFF"/>
                </a:solidFill>
                <a:latin typeface="Cambria"/>
                <a:cs typeface="Cambria"/>
              </a:rPr>
              <a:t>Healthcare</a:t>
            </a:r>
            <a:endParaRPr sz="105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5795635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A24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6502420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00C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14816" y="5505456"/>
            <a:ext cx="12418695" cy="1439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0070" marR="5080" indent="-548005">
              <a:lnSpc>
                <a:spcPct val="128800"/>
              </a:lnSpc>
              <a:spcBef>
                <a:spcPts val="100"/>
              </a:spcBef>
            </a:pPr>
            <a:r>
              <a:rPr dirty="0" sz="3600" spc="-60">
                <a:solidFill>
                  <a:srgbClr val="E8E8E8"/>
                </a:solidFill>
                <a:latin typeface="Arial MT"/>
                <a:cs typeface="Arial MT"/>
              </a:rPr>
              <a:t>Effective</a:t>
            </a:r>
            <a:r>
              <a:rPr dirty="0" sz="3600" spc="-12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DDDDDD"/>
                </a:solidFill>
                <a:latin typeface="Arial MT"/>
                <a:cs typeface="Arial MT"/>
              </a:rPr>
              <a:t>data</a:t>
            </a:r>
            <a:r>
              <a:rPr dirty="0" sz="3600" spc="-22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600" spc="-180">
                <a:solidFill>
                  <a:srgbClr val="E4E4E4"/>
                </a:solidFill>
                <a:latin typeface="Arial MT"/>
                <a:cs typeface="Arial MT"/>
              </a:rPr>
              <a:t>analysis</a:t>
            </a:r>
            <a:r>
              <a:rPr dirty="0" sz="3600" spc="-7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600" spc="-275">
                <a:solidFill>
                  <a:srgbClr val="E2E2E2"/>
                </a:solidFill>
                <a:latin typeface="Arial MT"/>
                <a:cs typeface="Arial MT"/>
              </a:rPr>
              <a:t>is</a:t>
            </a:r>
            <a:r>
              <a:rPr dirty="0" sz="3600" spc="2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DDDDDD"/>
                </a:solidFill>
                <a:latin typeface="Arial MT"/>
                <a:cs typeface="Arial MT"/>
              </a:rPr>
              <a:t>fhe</a:t>
            </a:r>
            <a:r>
              <a:rPr dirty="0" sz="3600" spc="-18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600" spc="-55">
                <a:solidFill>
                  <a:srgbClr val="E6E6E6"/>
                </a:solidFill>
                <a:latin typeface="Arial MT"/>
                <a:cs typeface="Arial MT"/>
              </a:rPr>
              <a:t>cornersfone</a:t>
            </a:r>
            <a:r>
              <a:rPr dirty="0" sz="3600" spc="14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E2E2E2"/>
                </a:solidFill>
                <a:latin typeface="Arial MT"/>
                <a:cs typeface="Arial MT"/>
              </a:rPr>
              <a:t>of</a:t>
            </a:r>
            <a:r>
              <a:rPr dirty="0" sz="3600" spc="-9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600" spc="-30">
                <a:solidFill>
                  <a:srgbClr val="E6E6E6"/>
                </a:solidFill>
                <a:latin typeface="Arial MT"/>
                <a:cs typeface="Arial MT"/>
              </a:rPr>
              <a:t>proocfive</a:t>
            </a:r>
            <a:r>
              <a:rPr dirty="0" sz="3600" spc="-1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600" spc="-20">
                <a:solidFill>
                  <a:srgbClr val="E2E2E2"/>
                </a:solidFill>
                <a:latin typeface="Arial MT"/>
                <a:cs typeface="Arial MT"/>
              </a:rPr>
              <a:t>pandemic </a:t>
            </a:r>
            <a:r>
              <a:rPr dirty="0" sz="3600" spc="-20">
                <a:solidFill>
                  <a:srgbClr val="E6E6E6"/>
                </a:solidFill>
                <a:latin typeface="Arial MT"/>
                <a:cs typeface="Arial MT"/>
              </a:rPr>
              <a:t>managemenf</a:t>
            </a:r>
            <a:r>
              <a:rPr dirty="0" sz="3600" spc="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DDDDDD"/>
                </a:solidFill>
                <a:latin typeface="Arial MT"/>
                <a:cs typeface="Arial MT"/>
              </a:rPr>
              <a:t>and</a:t>
            </a:r>
            <a:r>
              <a:rPr dirty="0" sz="3600" spc="-2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600" spc="-114">
                <a:solidFill>
                  <a:srgbClr val="E8E8E8"/>
                </a:solidFill>
                <a:latin typeface="Arial MT"/>
                <a:cs typeface="Arial MT"/>
              </a:rPr>
              <a:t>resource</a:t>
            </a:r>
            <a:r>
              <a:rPr dirty="0" sz="3600" spc="-4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3600" spc="-20">
                <a:solidFill>
                  <a:srgbClr val="E2E2E2"/>
                </a:solidFill>
                <a:latin typeface="Arial MT"/>
                <a:cs typeface="Arial MT"/>
              </a:rPr>
              <a:t>opfimizafion</a:t>
            </a:r>
            <a:r>
              <a:rPr dirty="0" sz="3600" spc="-21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600" spc="-130">
                <a:solidFill>
                  <a:srgbClr val="E4E4E4"/>
                </a:solidFill>
                <a:latin typeface="Arial MT"/>
                <a:cs typeface="Arial MT"/>
              </a:rPr>
              <a:t>across</a:t>
            </a:r>
            <a:r>
              <a:rPr dirty="0" sz="3600" spc="-11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E4E4E4"/>
                </a:solidFill>
                <a:latin typeface="Arial MT"/>
                <a:cs typeface="Arial MT"/>
              </a:rPr>
              <a:t>fhe</a:t>
            </a:r>
            <a:r>
              <a:rPr dirty="0" sz="3600" spc="-25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DBDBDB"/>
                </a:solidFill>
                <a:latin typeface="Arial MT"/>
                <a:cs typeface="Arial MT"/>
              </a:rPr>
              <a:t>nafion.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251210"/>
            <a:ext cx="20088393" cy="103661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6298237"/>
            <a:ext cx="20088860" cy="157480"/>
          </a:xfrm>
          <a:custGeom>
            <a:avLst/>
            <a:gdLst/>
            <a:ahLst/>
            <a:cxnLst/>
            <a:rect l="l" t="t" r="r" b="b"/>
            <a:pathLst>
              <a:path w="20088860" h="157479">
                <a:moveTo>
                  <a:pt x="0" y="0"/>
                </a:moveTo>
                <a:lnTo>
                  <a:pt x="20088394" y="0"/>
                </a:lnTo>
                <a:lnTo>
                  <a:pt x="20088394" y="157063"/>
                </a:lnTo>
                <a:lnTo>
                  <a:pt x="0" y="1570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06" y="766468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00756" y="7568875"/>
            <a:ext cx="727329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45">
                <a:solidFill>
                  <a:srgbClr val="AFAFAF"/>
                </a:solidFill>
                <a:latin typeface="Lucida Sans Unicode"/>
                <a:cs typeface="Lucida Sans Unicode"/>
              </a:rPr>
              <a:t>Analysis</a:t>
            </a:r>
            <a:r>
              <a:rPr dirty="0" sz="2450" spc="-60">
                <a:solidFill>
                  <a:srgbClr val="AFAFA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ACACAC"/>
                </a:solidFill>
                <a:latin typeface="Lucida Sans Unicode"/>
                <a:cs typeface="Lucida Sans Unicode"/>
              </a:rPr>
              <a:t>based</a:t>
            </a:r>
            <a:r>
              <a:rPr dirty="0" sz="2450" spc="-140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40">
                <a:solidFill>
                  <a:srgbClr val="919191"/>
                </a:solidFill>
                <a:latin typeface="Lucida Sans Unicode"/>
                <a:cs typeface="Lucida Sans Unicode"/>
              </a:rPr>
              <a:t>on</a:t>
            </a:r>
            <a:r>
              <a:rPr dirty="0" sz="2450" spc="-35">
                <a:solidFill>
                  <a:srgbClr val="91919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5">
                <a:solidFill>
                  <a:srgbClr val="939393"/>
                </a:solidFill>
                <a:latin typeface="Lucida Sans Unicode"/>
                <a:cs typeface="Lucida Sans Unicode"/>
              </a:rPr>
              <a:t>łhe</a:t>
            </a:r>
            <a:r>
              <a:rPr dirty="0" sz="2450" spc="-145">
                <a:solidFill>
                  <a:srgbClr val="939393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85">
                <a:solidFill>
                  <a:srgbClr val="ACACAC"/>
                </a:solidFill>
                <a:latin typeface="Lucida Sans Unicode"/>
                <a:cs typeface="Lucida Sans Unicode"/>
              </a:rPr>
              <a:t>State-</a:t>
            </a:r>
            <a:r>
              <a:rPr dirty="0" sz="2450" spc="-50">
                <a:solidFill>
                  <a:srgbClr val="ACACAC"/>
                </a:solidFill>
                <a:latin typeface="Lucida Sans Unicode"/>
                <a:cs typeface="Lucida Sans Unicode"/>
              </a:rPr>
              <a:t>wise</a:t>
            </a:r>
            <a:r>
              <a:rPr dirty="0" sz="2450" spc="-25">
                <a:solidFill>
                  <a:srgbClr val="ACACAC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5">
                <a:solidFill>
                  <a:srgbClr val="B1B1B1"/>
                </a:solidFill>
                <a:latin typeface="Lucida Sans Unicode"/>
                <a:cs typeface="Lucida Sans Unicode"/>
              </a:rPr>
              <a:t>Dashboard</a:t>
            </a:r>
            <a:r>
              <a:rPr dirty="0" sz="2450" spc="-35">
                <a:solidFill>
                  <a:srgbClr val="B1B1B1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90">
                <a:solidFill>
                  <a:srgbClr val="AAAAAA"/>
                </a:solidFill>
                <a:latin typeface="Lucida Sans Unicode"/>
                <a:cs typeface="Lucida Sans Unicode"/>
              </a:rPr>
              <a:t>ReDorł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2026-06-18T05:58:06Z</dcterms:created>
  <dcterms:modified xsi:type="dcterms:W3CDTF">2026-06-18T05:58:06Z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2026-06-18T00:00:00Z</vt:filetime>
  </property>
  <property fmtid="{D5CDD505-2E9C-101B-9397-08002B2CF9AE}" pid="4" name="LastSaved">
    <vt:filetime>2026-06-18T00:00:00Z</vt:filetime>
  </property>
  <property fmtid="{D5CDD505-2E9C-101B-9397-08002B2CF9AE}" pid="5" name="Producer">
    <vt:lpwstr>iLovePDF</vt:lpwstr>
  </property>
</Properties>
</file>